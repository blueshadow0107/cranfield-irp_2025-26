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3ECEE2-BD89-44B6-9303-49120792AA78}" v="7" dt="2025-07-15T02:20:54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Teschner" userId="580c0290-f621-484c-adb9-7794c5903333" providerId="ADAL" clId="{F03ECEE2-BD89-44B6-9303-49120792AA78}"/>
    <pc:docChg chg="custSel addSld delSld modSld modMainMaster">
      <pc:chgData name="Tom Teschner" userId="580c0290-f621-484c-adb9-7794c5903333" providerId="ADAL" clId="{F03ECEE2-BD89-44B6-9303-49120792AA78}" dt="2025-07-15T02:22:13.534" v="104" actId="3626"/>
      <pc:docMkLst>
        <pc:docMk/>
      </pc:docMkLst>
      <pc:sldChg chg="addSp delSp modSp new del mod">
        <pc:chgData name="Tom Teschner" userId="580c0290-f621-484c-adb9-7794c5903333" providerId="ADAL" clId="{F03ECEE2-BD89-44B6-9303-49120792AA78}" dt="2025-07-15T02:20:17.744" v="96" actId="47"/>
        <pc:sldMkLst>
          <pc:docMk/>
          <pc:sldMk cId="684745610" sldId="256"/>
        </pc:sldMkLst>
        <pc:spChg chg="del">
          <ac:chgData name="Tom Teschner" userId="580c0290-f621-484c-adb9-7794c5903333" providerId="ADAL" clId="{F03ECEE2-BD89-44B6-9303-49120792AA78}" dt="2025-07-15T02:18:30.486" v="57" actId="931"/>
          <ac:spMkLst>
            <pc:docMk/>
            <pc:sldMk cId="684745610" sldId="256"/>
            <ac:spMk id="16" creationId="{DD220308-5478-3118-C4DA-0133A6CAA401}"/>
          </ac:spMkLst>
        </pc:spChg>
        <pc:spChg chg="del">
          <ac:chgData name="Tom Teschner" userId="580c0290-f621-484c-adb9-7794c5903333" providerId="ADAL" clId="{F03ECEE2-BD89-44B6-9303-49120792AA78}" dt="2025-07-15T02:18:27.118" v="56" actId="931"/>
          <ac:spMkLst>
            <pc:docMk/>
            <pc:sldMk cId="684745610" sldId="256"/>
            <ac:spMk id="17" creationId="{42769FA7-678E-B6D0-D991-7C4A19607516}"/>
          </ac:spMkLst>
        </pc:spChg>
        <pc:picChg chg="add mod">
          <ac:chgData name="Tom Teschner" userId="580c0290-f621-484c-adb9-7794c5903333" providerId="ADAL" clId="{F03ECEE2-BD89-44B6-9303-49120792AA78}" dt="2025-07-15T02:18:30.987" v="58" actId="27614"/>
          <ac:picMkLst>
            <pc:docMk/>
            <pc:sldMk cId="684745610" sldId="256"/>
            <ac:picMk id="19" creationId="{A1D3103A-DBA8-EF3B-B400-8C0F1E9DAE9F}"/>
          </ac:picMkLst>
        </pc:picChg>
        <pc:picChg chg="add mod">
          <ac:chgData name="Tom Teschner" userId="580c0290-f621-484c-adb9-7794c5903333" providerId="ADAL" clId="{F03ECEE2-BD89-44B6-9303-49120792AA78}" dt="2025-07-15T02:18:32.289" v="60" actId="27614"/>
          <ac:picMkLst>
            <pc:docMk/>
            <pc:sldMk cId="684745610" sldId="256"/>
            <ac:picMk id="21" creationId="{CBE56630-3B3A-33D9-5920-49FDECC80087}"/>
          </ac:picMkLst>
        </pc:picChg>
      </pc:sldChg>
      <pc:sldChg chg="addSp delSp modSp new mod">
        <pc:chgData name="Tom Teschner" userId="580c0290-f621-484c-adb9-7794c5903333" providerId="ADAL" clId="{F03ECEE2-BD89-44B6-9303-49120792AA78}" dt="2025-07-15T02:22:13.534" v="104" actId="3626"/>
        <pc:sldMkLst>
          <pc:docMk/>
          <pc:sldMk cId="917094413" sldId="256"/>
        </pc:sldMkLst>
        <pc:spChg chg="del">
          <ac:chgData name="Tom Teschner" userId="580c0290-f621-484c-adb9-7794c5903333" providerId="ADAL" clId="{F03ECEE2-BD89-44B6-9303-49120792AA78}" dt="2025-07-15T02:20:32.679" v="99" actId="931"/>
          <ac:spMkLst>
            <pc:docMk/>
            <pc:sldMk cId="917094413" sldId="256"/>
            <ac:spMk id="16" creationId="{94487F58-86D5-A935-4AB4-6E3D3D78A34C}"/>
          </ac:spMkLst>
        </pc:spChg>
        <pc:spChg chg="del">
          <ac:chgData name="Tom Teschner" userId="580c0290-f621-484c-adb9-7794c5903333" providerId="ADAL" clId="{F03ECEE2-BD89-44B6-9303-49120792AA78}" dt="2025-07-15T02:20:29.171" v="98" actId="931"/>
          <ac:spMkLst>
            <pc:docMk/>
            <pc:sldMk cId="917094413" sldId="256"/>
            <ac:spMk id="17" creationId="{B4C02DCF-BD06-D9BF-8864-404B698493DE}"/>
          </ac:spMkLst>
        </pc:spChg>
        <pc:picChg chg="add mod">
          <ac:chgData name="Tom Teschner" userId="580c0290-f621-484c-adb9-7794c5903333" providerId="ADAL" clId="{F03ECEE2-BD89-44B6-9303-49120792AA78}" dt="2025-07-15T02:22:13.534" v="104" actId="3626"/>
          <ac:picMkLst>
            <pc:docMk/>
            <pc:sldMk cId="917094413" sldId="256"/>
            <ac:picMk id="19" creationId="{48BCEE7F-9B98-CA98-42B1-7B43233FF3ED}"/>
          </ac:picMkLst>
        </pc:picChg>
        <pc:picChg chg="add mod">
          <ac:chgData name="Tom Teschner" userId="580c0290-f621-484c-adb9-7794c5903333" providerId="ADAL" clId="{F03ECEE2-BD89-44B6-9303-49120792AA78}" dt="2025-07-15T02:20:35.014" v="102" actId="27614"/>
          <ac:picMkLst>
            <pc:docMk/>
            <pc:sldMk cId="917094413" sldId="256"/>
            <ac:picMk id="21" creationId="{35181A78-1601-1278-2E84-AB8156141F8A}"/>
          </ac:picMkLst>
        </pc:picChg>
      </pc:sldChg>
      <pc:sldChg chg="del">
        <pc:chgData name="Tom Teschner" userId="580c0290-f621-484c-adb9-7794c5903333" providerId="ADAL" clId="{F03ECEE2-BD89-44B6-9303-49120792AA78}" dt="2025-07-15T02:17:04.155" v="0" actId="47"/>
        <pc:sldMkLst>
          <pc:docMk/>
          <pc:sldMk cId="2658082252" sldId="256"/>
        </pc:sldMkLst>
      </pc:sldChg>
      <pc:sldMasterChg chg="modSldLayout">
        <pc:chgData name="Tom Teschner" userId="580c0290-f621-484c-adb9-7794c5903333" providerId="ADAL" clId="{F03ECEE2-BD89-44B6-9303-49120792AA78}" dt="2025-07-15T02:19:52.910" v="95" actId="20577"/>
        <pc:sldMasterMkLst>
          <pc:docMk/>
          <pc:sldMasterMk cId="526902791" sldId="2147483648"/>
        </pc:sldMasterMkLst>
        <pc:sldLayoutChg chg="modSp mod">
          <pc:chgData name="Tom Teschner" userId="580c0290-f621-484c-adb9-7794c5903333" providerId="ADAL" clId="{F03ECEE2-BD89-44B6-9303-49120792AA78}" dt="2025-07-15T02:19:52.910" v="95" actId="20577"/>
          <pc:sldLayoutMkLst>
            <pc:docMk/>
            <pc:sldMasterMk cId="526902791" sldId="2147483648"/>
            <pc:sldLayoutMk cId="4150675398" sldId="2147483660"/>
          </pc:sldLayoutMkLst>
          <pc:spChg chg="mod">
            <ac:chgData name="Tom Teschner" userId="580c0290-f621-484c-adb9-7794c5903333" providerId="ADAL" clId="{F03ECEE2-BD89-44B6-9303-49120792AA78}" dt="2025-07-15T02:19:52.910" v="95" actId="20577"/>
            <ac:spMkLst>
              <pc:docMk/>
              <pc:sldMasterMk cId="526902791" sldId="2147483648"/>
              <pc:sldLayoutMk cId="4150675398" sldId="2147483660"/>
              <ac:spMk id="57" creationId="{18BC72DF-0243-6EC6-1902-FAAF0175A63E}"/>
            </ac:spMkLst>
          </pc:sp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hyperlink" Target="https://www.cranfield.ac.uk/courses/taught/computational-fluid-dynamics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11023788-58BA-F8B6-7DCC-8F898A0AA3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97" y="159265"/>
            <a:ext cx="1369721" cy="1369721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9C15E76F-6176-9360-AA0D-8F1E8C30D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6249" y="133627"/>
            <a:ext cx="10245953" cy="661131"/>
          </a:xfrm>
        </p:spPr>
        <p:txBody>
          <a:bodyPr>
            <a:normAutofit/>
          </a:bodyPr>
          <a:lstStyle>
            <a:lvl1pPr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7FE20C-7B78-B6F6-786B-B1AE25ABD0A3}"/>
              </a:ext>
            </a:extLst>
          </p:cNvPr>
          <p:cNvSpPr txBox="1"/>
          <p:nvPr userDrawn="1"/>
        </p:nvSpPr>
        <p:spPr>
          <a:xfrm>
            <a:off x="1726249" y="809941"/>
            <a:ext cx="1369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Student: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19E504A-4181-C022-C113-887455C3CF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95968" y="869211"/>
            <a:ext cx="5959407" cy="3508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Lastname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F0867F-B239-F02A-7474-0748C8D29DB4}"/>
              </a:ext>
            </a:extLst>
          </p:cNvPr>
          <p:cNvSpPr txBox="1"/>
          <p:nvPr userDrawn="1"/>
        </p:nvSpPr>
        <p:spPr>
          <a:xfrm>
            <a:off x="1726248" y="1159654"/>
            <a:ext cx="1369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Supervisor: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7D3DB45-A290-7CD0-2062-497DE2340F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95968" y="1194456"/>
            <a:ext cx="5959407" cy="3508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Firstname</a:t>
            </a:r>
            <a:r>
              <a:rPr lang="en-US" dirty="0"/>
              <a:t> Lastname, (external supervisor first name, last name)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59D11B-5BA3-3160-1258-E48D068933A4}"/>
              </a:ext>
            </a:extLst>
          </p:cNvPr>
          <p:cNvSpPr/>
          <p:nvPr userDrawn="1"/>
        </p:nvSpPr>
        <p:spPr>
          <a:xfrm>
            <a:off x="219797" y="1622208"/>
            <a:ext cx="2876170" cy="20124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FBFA19-67FA-DBAB-BD57-DD728C01776A}"/>
              </a:ext>
            </a:extLst>
          </p:cNvPr>
          <p:cNvSpPr/>
          <p:nvPr userDrawn="1"/>
        </p:nvSpPr>
        <p:spPr>
          <a:xfrm>
            <a:off x="3197780" y="1622208"/>
            <a:ext cx="2876170" cy="20124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Aim and objectives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583FAE-E6DC-38AF-DBCB-4DC24C125D89}"/>
              </a:ext>
            </a:extLst>
          </p:cNvPr>
          <p:cNvSpPr/>
          <p:nvPr userDrawn="1"/>
        </p:nvSpPr>
        <p:spPr>
          <a:xfrm>
            <a:off x="6175375" y="1617188"/>
            <a:ext cx="5796437" cy="20124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Results and Discussions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F29143B-1855-ADB8-0EAB-09C8680A34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797" y="1859004"/>
            <a:ext cx="2876170" cy="1647745"/>
          </a:xfrm>
        </p:spPr>
        <p:txBody>
          <a:bodyPr>
            <a:normAutofit/>
          </a:bodyPr>
          <a:lstStyle>
            <a:lvl1pPr marL="0" indent="0" algn="just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Set the scene, why is this work important? May include an image in addition to the text if it helps to convey your message. </a:t>
            </a:r>
            <a:endParaRPr lang="en-GB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558EC5CA-81B0-0D57-2110-AFCC2EF110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97780" y="1870539"/>
            <a:ext cx="2876170" cy="1636209"/>
          </a:xfrm>
        </p:spPr>
        <p:txBody>
          <a:bodyPr>
            <a:normAutofit/>
          </a:bodyPr>
          <a:lstStyle>
            <a:lvl1pPr marL="0" indent="0" algn="just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Your work must have an aim, state it as the first paragraph.</a:t>
            </a:r>
          </a:p>
          <a:p>
            <a:pPr lvl="0"/>
            <a:r>
              <a:rPr lang="en-GB" dirty="0"/>
              <a:t>The second paragraph should list the objectives in bullet point form</a:t>
            </a:r>
          </a:p>
          <a:p>
            <a:pPr lvl="0"/>
            <a:r>
              <a:rPr lang="en-US" dirty="0"/>
              <a:t>Use </a:t>
            </a:r>
            <a:r>
              <a:rPr lang="en-US" dirty="0" err="1"/>
              <a:t>Alt+Enter</a:t>
            </a:r>
            <a:r>
              <a:rPr lang="en-US" dirty="0"/>
              <a:t> to avoid additional space between lines and Alt + 0149 (num pad) to create a bullet point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6C96E6-2578-9672-6794-077FBC7C58A7}"/>
              </a:ext>
            </a:extLst>
          </p:cNvPr>
          <p:cNvSpPr/>
          <p:nvPr userDrawn="1"/>
        </p:nvSpPr>
        <p:spPr>
          <a:xfrm>
            <a:off x="219796" y="5541949"/>
            <a:ext cx="5854154" cy="20124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F9342C-4CDF-3CA6-3B4F-B481428BAC0A}"/>
              </a:ext>
            </a:extLst>
          </p:cNvPr>
          <p:cNvSpPr/>
          <p:nvPr userDrawn="1"/>
        </p:nvSpPr>
        <p:spPr>
          <a:xfrm>
            <a:off x="219796" y="3535468"/>
            <a:ext cx="5854153" cy="20124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D5B1CFF3-9538-206E-A41F-B9AE151DF9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9796" y="5782822"/>
            <a:ext cx="5854154" cy="941551"/>
          </a:xfrm>
        </p:spPr>
        <p:txBody>
          <a:bodyPr>
            <a:normAutofit/>
          </a:bodyPr>
          <a:lstStyle>
            <a:lvl1pPr marL="0" indent="0" algn="just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Summarise your main findings, can be in bullet point format</a:t>
            </a:r>
            <a:endParaRPr lang="en-US" dirty="0"/>
          </a:p>
        </p:txBody>
      </p:sp>
      <p:sp>
        <p:nvSpPr>
          <p:cNvPr id="42" name="Text Placeholder 27">
            <a:extLst>
              <a:ext uri="{FF2B5EF4-FFF2-40B4-BE49-F238E27FC236}">
                <a16:creationId xmlns:a16="http://schemas.microsoft.com/office/drawing/2014/main" id="{6D27183F-39E0-BD3A-B5FE-5A486ADF5B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5375" y="6032270"/>
            <a:ext cx="5796436" cy="455364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Brief discussion of results seen above</a:t>
            </a:r>
            <a:br>
              <a:rPr lang="en-GB" dirty="0"/>
            </a:br>
            <a:endParaRPr lang="en-GB" dirty="0"/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6B25A6D4-3A4E-3B9C-5D27-F01C368805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092199" y="857814"/>
            <a:ext cx="2879612" cy="687479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If you are working with a company, place their logo here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28EA68DB-1EBE-FDCA-F315-E548E9A6BEF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175375" y="1855757"/>
            <a:ext cx="2880000" cy="180000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dirty="0"/>
              <a:t>Main result 1, either Figure or Table</a:t>
            </a:r>
          </a:p>
        </p:txBody>
      </p:sp>
      <p:sp>
        <p:nvSpPr>
          <p:cNvPr id="51" name="Content Placeholder 49">
            <a:extLst>
              <a:ext uri="{FF2B5EF4-FFF2-40B4-BE49-F238E27FC236}">
                <a16:creationId xmlns:a16="http://schemas.microsoft.com/office/drawing/2014/main" id="{CC8A5640-7D9C-6CBC-C6B8-BC0A8C2AD51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092199" y="1855757"/>
            <a:ext cx="2880000" cy="1800000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Main result 2, either Figure or Table</a:t>
            </a:r>
          </a:p>
        </p:txBody>
      </p:sp>
      <p:sp>
        <p:nvSpPr>
          <p:cNvPr id="52" name="Content Placeholder 49">
            <a:extLst>
              <a:ext uri="{FF2B5EF4-FFF2-40B4-BE49-F238E27FC236}">
                <a16:creationId xmlns:a16="http://schemas.microsoft.com/office/drawing/2014/main" id="{D4914A2B-B488-DC2C-F67A-40B902E02A3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74987" y="4200186"/>
            <a:ext cx="2880000" cy="180000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dirty="0"/>
              <a:t>Main result 3, either Figure or Table</a:t>
            </a:r>
          </a:p>
        </p:txBody>
      </p:sp>
      <p:sp>
        <p:nvSpPr>
          <p:cNvPr id="53" name="Content Placeholder 49">
            <a:extLst>
              <a:ext uri="{FF2B5EF4-FFF2-40B4-BE49-F238E27FC236}">
                <a16:creationId xmlns:a16="http://schemas.microsoft.com/office/drawing/2014/main" id="{E2AB658D-83E2-61CD-DDE6-0CA7737F497F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091811" y="4200186"/>
            <a:ext cx="2880000" cy="180000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10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GB" dirty="0"/>
              <a:t>Main result 4, either Figure or Table</a:t>
            </a:r>
          </a:p>
        </p:txBody>
      </p:sp>
      <p:sp>
        <p:nvSpPr>
          <p:cNvPr id="55" name="Content Placeholder 54">
            <a:extLst>
              <a:ext uri="{FF2B5EF4-FFF2-40B4-BE49-F238E27FC236}">
                <a16:creationId xmlns:a16="http://schemas.microsoft.com/office/drawing/2014/main" id="{5216B66A-67D1-5105-00D1-40059839A1E9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19795" y="3776340"/>
            <a:ext cx="5854154" cy="1720581"/>
          </a:xfrm>
        </p:spPr>
        <p:txBody>
          <a:bodyPr>
            <a:noAutofit/>
          </a:bodyPr>
          <a:lstStyle>
            <a:lvl1pPr marL="0" marR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Describe your methodology, ideally as a graphical representation, or a mix of graphics and text</a:t>
            </a:r>
            <a:endParaRPr lang="en-US" dirty="0"/>
          </a:p>
          <a:p>
            <a:pPr lvl="0"/>
            <a:endParaRPr lang="en-GB" dirty="0"/>
          </a:p>
        </p:txBody>
      </p:sp>
      <p:sp>
        <p:nvSpPr>
          <p:cNvPr id="56" name="Text Placeholder 27">
            <a:extLst>
              <a:ext uri="{FF2B5EF4-FFF2-40B4-BE49-F238E27FC236}">
                <a16:creationId xmlns:a16="http://schemas.microsoft.com/office/drawing/2014/main" id="{168D125B-AB59-BCA3-AFAC-C0C1C3E4996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74987" y="3697353"/>
            <a:ext cx="5796436" cy="455364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/>
              <a:t>Brief discussion of results seen above</a:t>
            </a:r>
            <a:br>
              <a:rPr lang="en-GB" dirty="0"/>
            </a:b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BC72DF-0243-6EC6-1902-FAAF0175A63E}"/>
              </a:ext>
            </a:extLst>
          </p:cNvPr>
          <p:cNvSpPr txBox="1"/>
          <p:nvPr userDrawn="1"/>
        </p:nvSpPr>
        <p:spPr>
          <a:xfrm>
            <a:off x="6096000" y="6538533"/>
            <a:ext cx="3822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MSc in Computational Fluid Dynamics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Content Placeholder 58">
            <a:extLst>
              <a:ext uri="{FF2B5EF4-FFF2-40B4-BE49-F238E27FC236}">
                <a16:creationId xmlns:a16="http://schemas.microsoft.com/office/drawing/2014/main" id="{EA8CEEDD-7F43-B20B-925E-FFDA502E77E4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11683423" y="6519718"/>
            <a:ext cx="288000" cy="288000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</a:lstStyle>
          <a:p>
            <a:pPr lvl="0"/>
            <a:r>
              <a:rPr lang="en-GB" dirty="0"/>
              <a:t>LinkedIn</a:t>
            </a:r>
          </a:p>
        </p:txBody>
      </p:sp>
      <p:sp>
        <p:nvSpPr>
          <p:cNvPr id="60" name="Content Placeholder 58">
            <a:extLst>
              <a:ext uri="{FF2B5EF4-FFF2-40B4-BE49-F238E27FC236}">
                <a16:creationId xmlns:a16="http://schemas.microsoft.com/office/drawing/2014/main" id="{CFDF6F6B-6459-0C15-481C-FE4CA0C52C69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1356511" y="6519718"/>
            <a:ext cx="288000" cy="288000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</a:lstStyle>
          <a:p>
            <a:pPr lvl="0"/>
            <a:r>
              <a:rPr lang="en-GB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415067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90F9-A49F-0723-303E-9DED0259C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7210B5-5AF1-90BC-143C-5FFB40FDF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65D67-F42E-46C6-BA13-41D063EB0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66327-935C-4548-8438-A3D402D0C77D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DAECA-5F4E-3BC4-8876-682D44D6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9A6E0-BE01-49FA-F6F2-78FE67681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C49CE-46B5-47E0-9424-A734966EBB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7225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37D692-685B-C088-26E8-881BC56CA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461BA-FA51-F398-82D0-4F87AA1EE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FDEEC-CD97-6EAB-7F32-F0AEEDAD7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666327-935C-4548-8438-A3D402D0C77D}" type="datetimeFigureOut">
              <a:rPr lang="en-GB" smtClean="0"/>
              <a:t>15/07/2025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F0FE8-626E-F58F-E00A-5F2A530A28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C4109-B61B-AB42-00A4-A38D5F00D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C49CE-46B5-47E0-9424-A734966EBB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902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7160"/>
            <a:ext cx="1173476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3366"/>
                </a:solidFill>
                <a:latin typeface="Arial"/>
              </a:rPr>
              <a:t>From Measured Pore-Scale Operators to Network-Level Prediction in a Structured Belousov–Zhabotinsky Reactor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48640"/>
            <a:ext cx="1173476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12121"/>
                </a:solidFill>
                <a:latin typeface="Arial"/>
              </a:rPr>
              <a:t>Srivijayesh Venugopal  ·  Supervisor: Prof. Weisi Guo  ·  Cranfield University, MSc Computational Fluid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"/>
            <a:ext cx="378966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  <a:latin typeface="Arial"/>
              </a:rPr>
              <a:t>Motivation &amp; Porous Reactor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"/>
            <a:ext cx="3789669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12121"/>
                </a:solidFill>
                <a:latin typeface="Arial"/>
              </a:rPr>
              <a:t>• Digital neural networks face the von Neumann bottleneck: memory and logic are physically separated.</a:t>
            </a:r>
          </a:p>
          <a:p>
            <a:pPr algn="l"/>
            <a:r>
              <a:rPr sz="1300">
                <a:solidFill>
                  <a:srgbClr val="212121"/>
                </a:solidFill>
                <a:latin typeface="Arial"/>
              </a:rPr>
              <a:t>• A structured BZ reactor can act as a programmable analog computer: chemistry itself performs the computation.</a:t>
            </a:r>
          </a:p>
          <a:p>
            <a:pPr algn="l"/>
            <a:r>
              <a:rPr sz="1300">
                <a:solidFill>
                  <a:srgbClr val="212121"/>
                </a:solidFill>
                <a:latin typeface="Arial"/>
              </a:rPr>
              <a:t>• Wave pulses travel through pore channels; collisions, annihilation and timing implement logic.</a:t>
            </a:r>
          </a:p>
          <a:p>
            <a:pPr algn="l"/>
            <a:r>
              <a:rPr sz="1300">
                <a:solidFill>
                  <a:srgbClr val="212121"/>
                </a:solidFill>
                <a:latin typeface="Arial"/>
              </a:rPr>
              <a:t>• Goal: replace discrete node-by-node simulation with a graph of measured pore-scale operators.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" y="1"/>
            <a:ext cx="378966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  <a:latin typeface="Arial"/>
              </a:rPr>
              <a:t>Model &amp;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" y="1"/>
            <a:ext cx="2198008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12121"/>
                </a:solidFill>
                <a:latin typeface="Arial"/>
              </a:rPr>
              <a:t>• Two-variable Oregonator with light suppression φ and anisotropic diffusion tensor D.</a:t>
            </a:r>
          </a:p>
          <a:p>
            <a:pPr algn="l"/>
            <a:r>
              <a:rPr sz="1200">
                <a:solidFill>
                  <a:srgbClr val="212121"/>
                </a:solidFill>
                <a:latin typeface="Arial"/>
              </a:rPr>
              <a:t>• Explicit finite-difference solver: operator splitting + adaptive reaction subcycling.</a:t>
            </a:r>
          </a:p>
          <a:p>
            <a:pPr algn="l"/>
            <a:r>
              <a:rPr sz="1200">
                <a:solidFill>
                  <a:srgbClr val="212121"/>
                </a:solidFill>
                <a:latin typeface="Arial"/>
              </a:rPr>
              <a:t>• Black-box characterisation: measure speed, refractory window and junction truth tables.</a:t>
            </a:r>
          </a:p>
          <a:p>
            <a:pPr algn="l"/>
            <a:r>
              <a:rPr sz="1200">
                <a:solidFill>
                  <a:srgbClr val="212121"/>
                </a:solidFill>
                <a:latin typeface="Arial"/>
              </a:rPr>
              <a:t>• Inputs: calibrated dark-spot flashes (T_FLASH ≈ 3 time units).</a:t>
            </a:r>
          </a:p>
        </p:txBody>
      </p:sp>
      <p:pic>
        <p:nvPicPr>
          <p:cNvPr id="8" name="Picture 7" descr="pub_verif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599" y="1"/>
            <a:ext cx="1364281" cy="9414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49599" y="959747"/>
            <a:ext cx="136428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12121"/>
                </a:solidFill>
                <a:latin typeface="Arial"/>
              </a:rPr>
              <a:t>MMS verification: 2nd-order convergence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" y="1"/>
            <a:ext cx="378966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  <a:latin typeface="Arial"/>
              </a:rPr>
              <a:t>Measured Pore-Scale Operators</a:t>
            </a:r>
          </a:p>
        </p:txBody>
      </p:sp>
      <p:pic>
        <p:nvPicPr>
          <p:cNvPr id="11" name="Picture 10" descr="pub_channel_transfer_darksp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" y="1"/>
            <a:ext cx="1819041" cy="58641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" y="604701"/>
            <a:ext cx="1819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Arial"/>
              </a:rPr>
              <a:t>Wire: v ≈ 6.46 cells/t.u.</a:t>
            </a:r>
          </a:p>
        </p:txBody>
      </p:sp>
      <p:pic>
        <p:nvPicPr>
          <p:cNvPr id="13" name="Picture 12" descr="pub_tjunction_logic_darksp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2201" y="1"/>
            <a:ext cx="1819041" cy="78839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92201" y="806680"/>
            <a:ext cx="181904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Arial"/>
              </a:rPr>
              <a:t>Inhibition: A AND (NOT B), &gt;200×</a:t>
            </a:r>
          </a:p>
        </p:txBody>
      </p:sp>
      <p:pic>
        <p:nvPicPr>
          <p:cNvPr id="15" name="Picture 14" descr="pub_anisotropic_rout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" y="2"/>
            <a:ext cx="3711234" cy="160756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" y="1625853"/>
            <a:ext cx="371123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Arial"/>
              </a:rPr>
              <a:t>Anisotropic routing via sqrt(r) eikonal steering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4"/>
            <a:ext cx="378966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  <a:latin typeface="Arial"/>
              </a:rPr>
              <a:t>Graph Simulator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4"/>
            <a:ext cx="378966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12121"/>
                </a:solidFill>
                <a:latin typeface="Arial"/>
              </a:rPr>
              <a:t>• Event-driven graph built from measured operators.</a:t>
            </a:r>
          </a:p>
          <a:p>
            <a:pPr algn="l"/>
            <a:r>
              <a:rPr sz="1300">
                <a:solidFill>
                  <a:srgbClr val="212121"/>
                </a:solidFill>
                <a:latin typeface="Arial"/>
              </a:rPr>
              <a:t>• Validation: inhibition gate, priority router, shared-control gate.</a:t>
            </a:r>
          </a:p>
          <a:p>
            <a:pPr algn="l"/>
            <a:r>
              <a:rPr sz="1300">
                <a:solidFill>
                  <a:srgbClr val="212121"/>
                </a:solidFill>
                <a:latin typeface="Arial"/>
              </a:rPr>
              <a:t>• Shared channel introduces crosstalk; geometry-aware routing required.</a:t>
            </a:r>
          </a:p>
        </p:txBody>
      </p:sp>
      <p:pic>
        <p:nvPicPr>
          <p:cNvPr id="19" name="Picture 18" descr="rd_multi_gate_pde_snapsho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"/>
            <a:ext cx="3789669" cy="162414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0" y="1642437"/>
            <a:ext cx="378966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12121"/>
                </a:solidFill>
                <a:latin typeface="Arial"/>
              </a:rPr>
              <a:t>Graph-to-PDE validation: priority router / shared-control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" y="4"/>
            <a:ext cx="378966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  <a:latin typeface="Arial"/>
              </a:rPr>
              <a:t>Boundary Experiments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" y="4"/>
            <a:ext cx="378966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12121"/>
                </a:solidFill>
                <a:latin typeface="Arial"/>
              </a:rPr>
              <a:t>• 3D inhibition gate: 16.8× separation, speed 6.62 cells/t.u.</a:t>
            </a:r>
          </a:p>
          <a:p>
            <a:pPr algn="l"/>
            <a:r>
              <a:rPr sz="1300">
                <a:solidFill>
                  <a:srgbClr val="212121"/>
                </a:solidFill>
                <a:latin typeface="Arial"/>
              </a:rPr>
              <a:t>• Collision XOR leaks when the merging stem stays excitable (free-medium baseline).</a:t>
            </a:r>
          </a:p>
          <a:p>
            <a:pPr algn="l"/>
            <a:r>
              <a:rPr sz="1300">
                <a:solidFill>
                  <a:srgbClr val="212121"/>
                </a:solidFill>
                <a:latin typeface="Arial"/>
              </a:rPr>
              <a:t>• Diode effect: negative result — symmetry dominates over geometry bias.</a:t>
            </a:r>
          </a:p>
        </p:txBody>
      </p:sp>
      <p:pic>
        <p:nvPicPr>
          <p:cNvPr id="23" name="Picture 22" descr="rd_3d_transfer_logic_snapshot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" y="5"/>
            <a:ext cx="1856938" cy="79583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" y="814124"/>
            <a:ext cx="18569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Arial"/>
              </a:rPr>
              <a:t>3D inhibition gate</a:t>
            </a:r>
          </a:p>
        </p:txBody>
      </p:sp>
      <p:pic>
        <p:nvPicPr>
          <p:cNvPr id="25" name="Picture 24" descr="rd_spot_xor_protoco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32735" y="5"/>
            <a:ext cx="1856938" cy="118168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932735" y="1199981"/>
            <a:ext cx="18569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12121"/>
                </a:solidFill>
                <a:latin typeface="Arial"/>
              </a:rPr>
              <a:t>Spot XOR leak protocol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" y="4"/>
            <a:ext cx="378966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  <a:latin typeface="Arial"/>
              </a:rPr>
              <a:t>Conclusions &amp; Future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" y="4"/>
            <a:ext cx="3789669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12121"/>
                </a:solidFill>
                <a:latin typeface="Arial"/>
              </a:rPr>
              <a:t>• Pore-network abstraction is viable when junction geometry is carried explicitly.</a:t>
            </a:r>
          </a:p>
          <a:p>
            <a:pPr algn="l"/>
            <a:r>
              <a:rPr sz="1300">
                <a:solidFill>
                  <a:srgbClr val="212121"/>
                </a:solidFill>
                <a:latin typeface="Arial"/>
              </a:rPr>
              <a:t>• Measured operators capture enough physics for fast graph-level prediction.</a:t>
            </a:r>
          </a:p>
          <a:p>
            <a:pPr algn="l"/>
            <a:r>
              <a:rPr sz="1300">
                <a:solidFill>
                  <a:srgbClr val="212121"/>
                </a:solidFill>
                <a:latin typeface="Arial"/>
              </a:rPr>
              <a:t>• Next steps:</a:t>
            </a:r>
          </a:p>
          <a:p>
            <a:pPr algn="l"/>
            <a:r>
              <a:rPr sz="1300">
                <a:solidFill>
                  <a:srgbClr val="212121"/>
                </a:solidFill>
                <a:latin typeface="Arial"/>
              </a:rPr>
              <a:t>  – Curated library of junction shapes (T, Y, diode, collision chamber).</a:t>
            </a:r>
          </a:p>
          <a:p>
            <a:pPr algn="l"/>
            <a:r>
              <a:rPr sz="1300">
                <a:solidFill>
                  <a:srgbClr val="212121"/>
                </a:solidFill>
                <a:latin typeface="Arial"/>
              </a:rPr>
              <a:t>  – Volumetric 3D illumination and full 3D training.</a:t>
            </a:r>
          </a:p>
          <a:p>
            <a:pPr algn="l"/>
            <a:r>
              <a:rPr sz="1300">
                <a:solidFill>
                  <a:srgbClr val="212121"/>
                </a:solidFill>
                <a:latin typeface="Arial"/>
              </a:rPr>
              <a:t>  – Experimental calibration against real photosensitive BZ reactors.</a:t>
            </a:r>
          </a:p>
        </p:txBody>
      </p:sp>
    </p:spTree>
    <p:extLst>
      <p:ext uri="{BB962C8B-B14F-4D97-AF65-F5344CB8AC3E}">
        <p14:creationId xmlns:p14="http://schemas.microsoft.com/office/powerpoint/2010/main" val="917094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Teschner</dc:creator>
  <cp:lastModifiedBy>Tom Teschner</cp:lastModifiedBy>
  <cp:revision>1</cp:revision>
  <dcterms:created xsi:type="dcterms:W3CDTF">2025-07-15T00:37:23Z</dcterms:created>
  <dcterms:modified xsi:type="dcterms:W3CDTF">2025-07-15T02:22:19Z</dcterms:modified>
</cp:coreProperties>
</file>